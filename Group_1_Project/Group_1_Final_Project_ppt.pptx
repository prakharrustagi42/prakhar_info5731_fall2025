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1233" r:id="rId3"/>
    <p:sldId id="1232" r:id="rId4"/>
    <p:sldId id="1309" r:id="rId5"/>
    <p:sldId id="1310" r:id="rId6"/>
    <p:sldId id="1311" r:id="rId7"/>
    <p:sldId id="1251" r:id="rId8"/>
    <p:sldId id="1312" r:id="rId9"/>
    <p:sldId id="1324" r:id="rId10"/>
    <p:sldId id="1313" r:id="rId11"/>
    <p:sldId id="1327" r:id="rId12"/>
    <p:sldId id="1314" r:id="rId13"/>
    <p:sldId id="1253" r:id="rId14"/>
    <p:sldId id="1326" r:id="rId15"/>
    <p:sldId id="1330" r:id="rId16"/>
    <p:sldId id="1329" r:id="rId17"/>
    <p:sldId id="124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, Haihua" initials="CH" lastIdx="3" clrIdx="0">
    <p:extLst>
      <p:ext uri="{19B8F6BF-5375-455C-9EA6-DF929625EA0E}">
        <p15:presenceInfo xmlns:p15="http://schemas.microsoft.com/office/powerpoint/2012/main" userId="S::Haihua.Chen@unt.edu::5fcf27ec-ad9e-4bed-8faf-af78b42dd1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672D93-4903-4F53-93EC-C46B38E7BDF6}" v="168" dt="2022-01-14T06:30:16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6181" autoAdjust="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D4172-3A32-48CD-BAEA-54AF1D24A1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DA219-B436-4BD9-A347-8539AB28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92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F4D8B-D956-4BAC-9D97-2A71C2641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12523-6374-4594-A5A9-4BE7EB794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D1C01-292A-4D65-A27A-3E1083A68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75C2D-3CE9-4744-BCC5-3B989AC3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99E1E-94F2-43F6-B487-59C888D2C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14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9030-A8E7-4C4D-8B41-0C4A7D7D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D525A-7392-4F0B-9D10-FF1A9747B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E6F87-93F9-4F22-8C22-CEC99A7AB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DA6CC-F3C7-450F-A537-7F0485FD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B3B91-4F31-4412-8E80-7638417E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55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CF224-116E-43D1-BE31-4D4590FC4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A6A79-7771-424F-8371-961201866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F061E-76FC-4C1D-B2E6-6196CE066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9937D-85AE-475C-B0FC-70A73768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56BD7-BF4D-478B-A62F-5320F9ABB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0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B74A-40C7-4528-B3CC-C030D01D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6CAA0-49FB-40AD-9921-E41C7D15C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E5C90-7E1E-40C0-8EB9-F11BBD233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5EFBE-F653-4CAD-AF57-7B472D6B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D1210-D824-4645-B49A-4BBCA37BC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68271-9F63-4711-9AB4-8F0F23AD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2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885B5-F517-4B65-8372-1ECBE900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39FD9-4A76-4622-908B-1C8F51E48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36BE9-70AF-4152-B68E-E3784B778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C9B34-9B8F-4476-B11E-5436EE4A0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9B39E-45E9-4EC3-8F96-CE6EE8060D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D3251E-88BD-4FF3-AF2D-D9EE9C265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FEEA8D-4198-4EA6-B902-020AEBBEB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DE6649-6B72-4196-8952-0D07C4E0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62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91A1-217B-476B-A41D-4D146786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71A26-EE3D-4D27-B8B8-AF558235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E49F6-86EF-4DC5-BFB5-CFEFB04C8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55F5F-E020-43BA-A73C-C08322DC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5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E066E5-2EA9-438B-AB71-F0FC2F22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2D6476-FF45-4BBF-A9CB-ABFA5E234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C4EA0-9A86-4235-ABAA-777FD1D32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90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97ED-BF07-4E5A-A27C-6AC47BAC0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BF581-7DD2-47CD-A986-129A6E4F6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32221-44A6-40D8-BC32-D5D51FE71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0DED-5D82-4433-881A-E04A7FE9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DA335-22F8-4B54-B869-18172115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6DD81-5A75-4EA7-816F-9B38762D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6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73EA8-A285-4C35-AC30-81EC1A4AA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700D16-94BD-4425-B042-1BC1F4F13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C0ED9-0666-4566-BCE1-826F581C7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22E2B-9355-4CFD-A8D0-DAA79DE1B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14C9C-5AF7-4B71-9DB3-50533186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9EB13-713E-4609-8785-00AED53E3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23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5717E-D77D-43A4-8CE0-37082002A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18F4F-B398-45D3-8FB8-B73097A36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5F044-C108-499A-884D-744CCC47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63EF5-4C4B-4414-9BFA-F263142A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E9DF9-56F9-4EFA-915A-4D889ED5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6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658EA0-564C-4FC4-B249-5E364F7B7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ABF2F-2B7F-47D8-8591-3D6C16A46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F53A0-DABD-4E2D-B425-5E597B899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AFF0F-D2D5-4A65-974F-9A3A5471A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9CA80-649E-42D8-9C00-FF2CE3BBB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9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056F18-D9B3-4242-AC37-67089957F6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1280" y="5764882"/>
            <a:ext cx="1623487" cy="74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30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7BB24D-3BC4-455C-8352-A5DDE36EE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1C2CC-0690-4BE7-871C-2E68CA906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A3A71-8E4F-4AF6-B6BF-B1F70B300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C555D-97FC-4E4B-915E-E8AADFB0AD1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3032E-B1F0-44F5-B1B0-3EB601E37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D06C-6D04-4792-B314-5DCB194EE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06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github.com/prakharrustagi42/Prakhar_INFO5731_Fall2025/tree/main/Group_1_Project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4" descr="Picture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3029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Title 5"/>
          <p:cNvSpPr>
            <a:spLocks noGrp="1"/>
          </p:cNvSpPr>
          <p:nvPr>
            <p:ph type="ctrTitle"/>
          </p:nvPr>
        </p:nvSpPr>
        <p:spPr>
          <a:xfrm>
            <a:off x="3124200" y="1635760"/>
            <a:ext cx="7391400" cy="240284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 </a:t>
            </a:r>
            <a:endParaRPr lang="en-US" b="1" dirty="0">
              <a:solidFill>
                <a:srgbClr val="008000"/>
              </a:solidFill>
            </a:endParaRPr>
          </a:p>
        </p:txBody>
      </p:sp>
      <p:sp>
        <p:nvSpPr>
          <p:cNvPr id="14338" name="Subtitle 2"/>
          <p:cNvSpPr>
            <a:spLocks noGrp="1"/>
          </p:cNvSpPr>
          <p:nvPr>
            <p:ph type="subTitle" idx="1"/>
          </p:nvPr>
        </p:nvSpPr>
        <p:spPr>
          <a:xfrm>
            <a:off x="3628364" y="3457594"/>
            <a:ext cx="7030452" cy="581006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Validating Automated Metrics for Quality Assessment</a:t>
            </a:r>
          </a:p>
        </p:txBody>
      </p:sp>
      <p:sp>
        <p:nvSpPr>
          <p:cNvPr id="14339" name="Rectangle 2"/>
          <p:cNvSpPr txBox="1">
            <a:spLocks noChangeArrowheads="1"/>
          </p:cNvSpPr>
          <p:nvPr/>
        </p:nvSpPr>
        <p:spPr bwMode="auto">
          <a:xfrm>
            <a:off x="1620371" y="0"/>
            <a:ext cx="6199094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bg1"/>
                </a:solidFill>
                <a:ea typeface="SimSun" pitchFamily="2" charset="-122"/>
              </a:rPr>
              <a:t>Department of Information Science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5D767-FB13-4D10-B516-92441A3CBFA3}"/>
              </a:ext>
            </a:extLst>
          </p:cNvPr>
          <p:cNvSpPr txBox="1"/>
          <p:nvPr/>
        </p:nvSpPr>
        <p:spPr>
          <a:xfrm>
            <a:off x="2432115" y="2284274"/>
            <a:ext cx="89485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An Algorithm Selector Framework for Automated Model Card Generation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0FD56-E13C-4679-A247-98148981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2AAE-5C2E-4928-943F-AEAEF3259654}" type="datetime1">
              <a:rPr lang="en-US" smtClean="0"/>
              <a:t>11/29/2025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9A9ED-79D6-418D-9FBD-185C3580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</a:t>
            </a:fld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B3F2278-726F-F90C-913A-4A9451F64A45}"/>
              </a:ext>
            </a:extLst>
          </p:cNvPr>
          <p:cNvSpPr txBox="1">
            <a:spLocks/>
          </p:cNvSpPr>
          <p:nvPr/>
        </p:nvSpPr>
        <p:spPr>
          <a:xfrm>
            <a:off x="3124200" y="4246830"/>
            <a:ext cx="7609114" cy="2003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/>
              <a:t>INFO 5731 – Computational Methods for Information Systems</a:t>
            </a:r>
          </a:p>
          <a:p>
            <a:pPr algn="l"/>
            <a:r>
              <a:rPr lang="sv-SE" sz="1300" b="1" dirty="0"/>
              <a:t>Group 1: </a:t>
            </a:r>
            <a:r>
              <a:rPr lang="sv-SE" sz="1300" dirty="0"/>
              <a:t>Prakhar Rustagi - 11783222, Varun Kumar Chennuri - 11749795, Pallavi Mannam - 11755894, Saloni Prakash Khot - 11825970, Samraggi Thapa – 11828286</a:t>
            </a:r>
          </a:p>
          <a:p>
            <a:pPr algn="l"/>
            <a:r>
              <a:rPr lang="sv-SE" sz="1300" b="1" dirty="0"/>
              <a:t>Mentor: </a:t>
            </a:r>
            <a:r>
              <a:rPr lang="sv-SE" sz="1300" dirty="0"/>
              <a:t>Dr. Haihua Chen</a:t>
            </a:r>
          </a:p>
          <a:p>
            <a:pPr algn="l"/>
            <a:r>
              <a:rPr lang="sv-SE" sz="1300" b="1" dirty="0"/>
              <a:t>Date: </a:t>
            </a:r>
            <a:r>
              <a:rPr lang="sv-SE" sz="1300" dirty="0"/>
              <a:t>11/29/2025</a:t>
            </a:r>
          </a:p>
          <a:p>
            <a:endParaRPr lang="sv-SE" sz="1300" dirty="0"/>
          </a:p>
          <a:p>
            <a:endParaRPr lang="en-US" dirty="0"/>
          </a:p>
          <a:p>
            <a:endParaRPr lang="en-U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5325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36033B-82D1-F34B-99BD-644C50FD7404}"/>
              </a:ext>
            </a:extLst>
          </p:cNvPr>
          <p:cNvSpPr/>
          <p:nvPr/>
        </p:nvSpPr>
        <p:spPr>
          <a:xfrm>
            <a:off x="510923" y="197346"/>
            <a:ext cx="11170153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1600" b="1" dirty="0"/>
          </a:p>
          <a:p>
            <a:r>
              <a:rPr lang="en-US" sz="3200" b="1" dirty="0"/>
              <a:t>Presentation 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Introduction &amp; Motivation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Project Goals &amp; Evaluation Metrics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Methodology &amp; Flowchart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Key Results: Correlation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Conclusion &amp; Future 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References &amp; Contributions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5247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7721212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dirty="0"/>
              <a:t>Introduction &amp; Motivation</a:t>
            </a:r>
            <a:br>
              <a:rPr lang="en-US" sz="3200" b="1" dirty="0"/>
            </a:br>
            <a:r>
              <a:rPr lang="en-US" sz="3200" b="1" dirty="0"/>
              <a:t>The Problem: Assessing Model Card Quality</a:t>
            </a:r>
            <a:br>
              <a:rPr lang="en-US" sz="1800" b="1" dirty="0"/>
            </a:br>
            <a:endParaRPr lang="en-US" sz="1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A0079-D410-4759-9ADD-E8B547EB204A}"/>
              </a:ext>
            </a:extLst>
          </p:cNvPr>
          <p:cNvSpPr txBox="1"/>
          <p:nvPr/>
        </p:nvSpPr>
        <p:spPr>
          <a:xfrm>
            <a:off x="630935" y="2807208"/>
            <a:ext cx="9154087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r>
              <a:rPr lang="en-US" sz="2400" b="1" dirty="0"/>
              <a:t>The Challenge:</a:t>
            </a:r>
            <a:r>
              <a:rPr lang="en-US" sz="2400" dirty="0"/>
              <a:t> Automatically generating model cards requires robust, objective quality assurance.</a:t>
            </a:r>
          </a:p>
          <a:p>
            <a:endParaRPr lang="en-US" sz="2400" dirty="0"/>
          </a:p>
          <a:p>
            <a:r>
              <a:rPr lang="en-US" sz="2400" b="1" dirty="0"/>
              <a:t>Limitation:</a:t>
            </a:r>
            <a:r>
              <a:rPr lang="en-US" sz="2400" dirty="0"/>
              <a:t> Manual human review is slow, expensive, and non-scalable.</a:t>
            </a:r>
          </a:p>
          <a:p>
            <a:endParaRPr lang="en-US" sz="2400" dirty="0"/>
          </a:p>
          <a:p>
            <a:r>
              <a:rPr lang="en-US" sz="2400" b="1" dirty="0"/>
              <a:t>Our Solution:</a:t>
            </a:r>
            <a:r>
              <a:rPr lang="en-US" sz="2400" dirty="0"/>
              <a:t> We must validate an </a:t>
            </a:r>
            <a:r>
              <a:rPr lang="en-US" sz="2400" b="1" dirty="0"/>
              <a:t>automated metric</a:t>
            </a:r>
            <a:r>
              <a:rPr lang="en-US" sz="2400" dirty="0"/>
              <a:t> (</a:t>
            </a:r>
            <a:r>
              <a:rPr lang="en-US" sz="2400" dirty="0" err="1"/>
              <a:t>BERTScore</a:t>
            </a:r>
            <a:r>
              <a:rPr lang="en-US" sz="2400" dirty="0"/>
              <a:t> &amp; Roberta BERT) that can reliably </a:t>
            </a:r>
            <a:r>
              <a:rPr lang="en-US" sz="2400" b="1" dirty="0"/>
              <a:t>proxy human judgment</a:t>
            </a:r>
            <a:r>
              <a:rPr lang="en-US" sz="2400" dirty="0"/>
              <a:t>, enabling efficient evaluation and algorithm selection.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013A7F-E6D4-4977-B32B-348841DBE3F6}" type="datetime1">
              <a:rPr lang="en-US" smtClean="0"/>
              <a:pPr>
                <a:spcAft>
                  <a:spcPts val="600"/>
                </a:spcAft>
              </a:pPr>
              <a:t>11/29/2025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4A4E1DE-E518-41B0-AF19-13631BA9D2F9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23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Project Goals and Evaluation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11/29/2025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A0079-D410-4759-9ADD-E8B547EB204A}"/>
              </a:ext>
            </a:extLst>
          </p:cNvPr>
          <p:cNvSpPr txBox="1"/>
          <p:nvPr/>
        </p:nvSpPr>
        <p:spPr>
          <a:xfrm>
            <a:off x="499138" y="889843"/>
            <a:ext cx="111937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Core Goal: </a:t>
            </a:r>
            <a:r>
              <a:rPr lang="en-US" sz="2400" dirty="0"/>
              <a:t>Validate </a:t>
            </a:r>
            <a:r>
              <a:rPr lang="en-US" sz="2400" dirty="0" err="1"/>
              <a:t>BERTScore</a:t>
            </a:r>
            <a:r>
              <a:rPr lang="en-US" sz="2400" dirty="0"/>
              <a:t> F1 as an automated metric by measuring its alignment with human quality scores.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Human Judgments (Rubric) Scores (1-5) on five critical dimensions: </a:t>
            </a:r>
            <a:r>
              <a:rPr lang="en-US" sz="2400" dirty="0"/>
              <a:t>Faithfulness, Relevance, Appropriateness, Consistency, and Usefulness.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Automated Metric </a:t>
            </a:r>
            <a:r>
              <a:rPr lang="en-US" sz="2400" b="1" dirty="0" err="1"/>
              <a:t>BERTScore</a:t>
            </a:r>
            <a:r>
              <a:rPr lang="en-US" sz="2400" b="1" dirty="0"/>
              <a:t> (F1): </a:t>
            </a:r>
            <a:r>
              <a:rPr lang="en-US" sz="2400" dirty="0"/>
              <a:t>A semantic similarity metric based on pre-trained language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Validation Method Pearson Correlation Coefficient (</a:t>
            </a:r>
            <a:r>
              <a:rPr lang="el-GR" sz="2400" dirty="0"/>
              <a:t>ρ</a:t>
            </a:r>
            <a:r>
              <a:rPr lang="en-IN" sz="2400" dirty="0"/>
              <a:t>)</a:t>
            </a:r>
            <a:r>
              <a:rPr lang="el-GR" sz="2400" dirty="0"/>
              <a:t> </a:t>
            </a:r>
            <a:r>
              <a:rPr lang="en-IN" sz="2400" dirty="0"/>
              <a:t>:</a:t>
            </a:r>
            <a:r>
              <a:rPr lang="en-US" sz="2400" dirty="0"/>
              <a:t>Measuring the linear relationship between the automated F1 score and each human dimension.</a:t>
            </a:r>
          </a:p>
          <a:p>
            <a:pPr marL="914400" lvl="1" indent="-457200">
              <a:buFont typeface="+mj-lt"/>
              <a:buAutoNum type="arabicParenR"/>
            </a:pP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3788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Human Annotation: Rubric and Granularity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11/29/2025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DD2A88-478B-BE10-B1B7-624594EF4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172352"/>
              </p:ext>
            </p:extLst>
          </p:nvPr>
        </p:nvGraphicFramePr>
        <p:xfrm>
          <a:off x="1447059" y="1372077"/>
          <a:ext cx="8898903" cy="4297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804">
                  <a:extLst>
                    <a:ext uri="{9D8B030D-6E8A-4147-A177-3AD203B41FA5}">
                      <a16:colId xmlns:a16="http://schemas.microsoft.com/office/drawing/2014/main" val="3684474709"/>
                    </a:ext>
                  </a:extLst>
                </a:gridCol>
                <a:gridCol w="1887431">
                  <a:extLst>
                    <a:ext uri="{9D8B030D-6E8A-4147-A177-3AD203B41FA5}">
                      <a16:colId xmlns:a16="http://schemas.microsoft.com/office/drawing/2014/main" val="3091421740"/>
                    </a:ext>
                  </a:extLst>
                </a:gridCol>
                <a:gridCol w="5072668">
                  <a:extLst>
                    <a:ext uri="{9D8B030D-6E8A-4147-A177-3AD203B41FA5}">
                      <a16:colId xmlns:a16="http://schemas.microsoft.com/office/drawing/2014/main" val="566523707"/>
                    </a:ext>
                  </a:extLst>
                </a:gridCol>
              </a:tblGrid>
              <a:tr h="255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Abbreviation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Definition (What We Measure)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9544629"/>
                  </a:ext>
                </a:extLst>
              </a:tr>
              <a:tr h="639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Faithfulness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F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Is the content factually correct and derived accurately from the source data/model?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326967"/>
                  </a:ext>
                </a:extLst>
              </a:tr>
              <a:tr h="830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Relevance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Is the content logically connected to the specific section's topic and model context?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592366"/>
                  </a:ext>
                </a:extLst>
              </a:tr>
              <a:tr h="830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Appropriateness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Is the tone, style, and terminology suitable for the target audience of the model card?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016911"/>
                  </a:ext>
                </a:extLst>
              </a:tr>
              <a:tr h="830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Consistency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Is the information presented logically consistent across different sections of the model card?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420065"/>
                  </a:ext>
                </a:extLst>
              </a:tr>
              <a:tr h="830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Usefulness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U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Does the content provide valuable, actionable information about the model's performance and limitations?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614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52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Annotation Granularity: Analysis by 8 Key Sections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11/29/2025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7E86C0-35DF-ACD7-9941-AC2FC3A09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321996"/>
              </p:ext>
            </p:extLst>
          </p:nvPr>
        </p:nvGraphicFramePr>
        <p:xfrm>
          <a:off x="1310326" y="1132242"/>
          <a:ext cx="9285402" cy="5120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4993">
                  <a:extLst>
                    <a:ext uri="{9D8B030D-6E8A-4147-A177-3AD203B41FA5}">
                      <a16:colId xmlns:a16="http://schemas.microsoft.com/office/drawing/2014/main" val="1967059106"/>
                    </a:ext>
                  </a:extLst>
                </a:gridCol>
                <a:gridCol w="4680409">
                  <a:extLst>
                    <a:ext uri="{9D8B030D-6E8A-4147-A177-3AD203B41FA5}">
                      <a16:colId xmlns:a16="http://schemas.microsoft.com/office/drawing/2014/main" val="4221046253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Model</a:t>
                      </a: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N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Card</a:t>
                      </a: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N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Section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N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N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Focus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142207697"/>
                  </a:ext>
                </a:extLst>
              </a:tr>
              <a:tr h="4934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model_details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Fundamental information about the model, version, developers, and licensing.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293848981"/>
                  </a:ext>
                </a:extLst>
              </a:tr>
              <a:tr h="69527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intended_use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specific use cases and environments the model was designed for, and explicitly, what it should </a:t>
                      </a:r>
                      <a:r>
                        <a:rPr lang="en-US" sz="12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be used for.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305993993"/>
                  </a:ext>
                </a:extLst>
              </a:tr>
              <a:tr h="69527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training_data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 of the data used to train the model, including sources, collection methods, and any pre-processing steps.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220641362"/>
                  </a:ext>
                </a:extLst>
              </a:tr>
              <a:tr h="69527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safety_considerations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Analysis of potential risks, harms, mitigations, and safety metrics relevant to the model's deployment.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986492693"/>
                  </a:ext>
                </a:extLst>
              </a:tr>
              <a:tr h="4934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generative_capabilities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specific functions, outputs, and performance modes that the model is able to exhibit.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801828983"/>
                  </a:ext>
                </a:extLst>
              </a:tr>
              <a:tr h="69527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limitations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Known boundaries, out-of-scope scenarios, performance drop-offs, and failure modes of the model.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143684934"/>
                  </a:ext>
                </a:extLst>
              </a:tr>
              <a:tr h="4934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ethical_considerations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Discussion of fairness, bias, privacy, and societal impact related to the model's usage.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866471177"/>
                  </a:ext>
                </a:extLst>
              </a:tr>
              <a:tr h="4934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evaluation_data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Details on the datasets and metrics used to test and evaluate the model's final performance.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451105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437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Methodology</a:t>
            </a:r>
            <a:r>
              <a:rPr lang="en-IN" sz="4000" dirty="0"/>
              <a:t> </a:t>
            </a:r>
            <a:r>
              <a:rPr lang="en-IN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&amp; Flowchart</a:t>
            </a:r>
            <a:endParaRPr lang="en-US" sz="3600" dirty="0">
              <a:solidFill>
                <a:srgbClr val="059033"/>
              </a:solidFill>
              <a:latin typeface="Times New Roman" charset="0"/>
              <a:ea typeface="ＭＳ Ｐゴシック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11/29/2025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B8793-FE06-244A-997A-D6D1ED62CF11}"/>
              </a:ext>
            </a:extLst>
          </p:cNvPr>
          <p:cNvSpPr txBox="1"/>
          <p:nvPr/>
        </p:nvSpPr>
        <p:spPr>
          <a:xfrm>
            <a:off x="499138" y="762478"/>
            <a:ext cx="111937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914400" lvl="1" indent="-457200">
              <a:buFont typeface="+mj-lt"/>
              <a:buAutoNum type="arabicParenR"/>
            </a:pPr>
            <a:r>
              <a:rPr lang="en-US" sz="2400" b="1" dirty="0"/>
              <a:t>The Validation Process (4-Step Flowchart)Data Collection: </a:t>
            </a:r>
            <a:r>
              <a:rPr lang="en-US" sz="2400" dirty="0"/>
              <a:t>Gather Model Card sections and granular Human Annotations (F, R, A, C, U) across 8 key sections (See Slide 5 for Rubric details).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b="1" dirty="0"/>
              <a:t>Automated Evaluation: </a:t>
            </a:r>
            <a:r>
              <a:rPr lang="en-US" sz="2400" dirty="0"/>
              <a:t>Calculate </a:t>
            </a:r>
            <a:r>
              <a:rPr lang="en-US" sz="2400" dirty="0" err="1"/>
              <a:t>BERTScore</a:t>
            </a:r>
            <a:r>
              <a:rPr lang="en-US" sz="2400" dirty="0"/>
              <a:t> (F1, P, R) using two distinct language model backbones (</a:t>
            </a:r>
            <a:r>
              <a:rPr lang="en-US" sz="2400" b="1" dirty="0" err="1"/>
              <a:t>bert</a:t>
            </a:r>
            <a:r>
              <a:rPr lang="en-US" sz="2400" b="1" dirty="0"/>
              <a:t>-base-uncased</a:t>
            </a:r>
            <a:r>
              <a:rPr lang="en-US" sz="2400" dirty="0"/>
              <a:t> and</a:t>
            </a:r>
            <a:r>
              <a:rPr lang="en-US" sz="2400" b="1" dirty="0"/>
              <a:t> </a:t>
            </a:r>
            <a:r>
              <a:rPr lang="en-US" sz="2400" b="1" dirty="0" err="1"/>
              <a:t>roberta</a:t>
            </a:r>
            <a:r>
              <a:rPr lang="en-US" sz="2400" b="1" dirty="0"/>
              <a:t>-large</a:t>
            </a:r>
            <a:r>
              <a:rPr lang="en-US" sz="2400" dirty="0"/>
              <a:t>).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b="1" dirty="0"/>
              <a:t>Correlation Analysis: </a:t>
            </a:r>
            <a:r>
              <a:rPr lang="en-US" sz="2400" dirty="0"/>
              <a:t>Compute the Pearson Correlation Coefficient (</a:t>
            </a:r>
            <a:r>
              <a:rPr lang="el-GR" sz="2400" dirty="0"/>
              <a:t>ρ</a:t>
            </a:r>
            <a:r>
              <a:rPr lang="en-IN" sz="2400" dirty="0"/>
              <a:t>)</a:t>
            </a:r>
            <a:r>
              <a:rPr lang="el-GR" sz="2400" dirty="0"/>
              <a:t> </a:t>
            </a:r>
            <a:r>
              <a:rPr lang="en-US" sz="2400" dirty="0"/>
              <a:t>between the Automated </a:t>
            </a:r>
            <a:r>
              <a:rPr lang="en-US" sz="2400" dirty="0" err="1"/>
              <a:t>BERTScore</a:t>
            </a:r>
            <a:r>
              <a:rPr lang="en-US" sz="2400" dirty="0"/>
              <a:t> F1 and the Human Score for each of the five dimensions.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dirty="0"/>
              <a:t>Algorithm Selection: Use the validated, high-correlation metrics (</a:t>
            </a:r>
            <a:r>
              <a:rPr lang="el-GR" sz="2400" dirty="0"/>
              <a:t>ρ </a:t>
            </a:r>
            <a:r>
              <a:rPr lang="en-US" sz="2400" dirty="0"/>
              <a:t>&gt; = 0.70) to select the best Model Card generation algorithms objectively.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79203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Key Result: BERT-Base Correlation (</a:t>
            </a:r>
            <a:r>
              <a:rPr lang="el-GR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ρ</a:t>
            </a:r>
            <a:r>
              <a:rPr lang="en-IN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)</a:t>
            </a:r>
            <a:r>
              <a:rPr lang="el-GR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 </a:t>
            </a:r>
            <a:endParaRPr lang="en-US" sz="3600" dirty="0">
              <a:solidFill>
                <a:srgbClr val="059033"/>
              </a:solidFill>
              <a:latin typeface="Times New Roman" charset="0"/>
              <a:ea typeface="ＭＳ Ｐゴシック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11/29/2025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B8793-FE06-244A-997A-D6D1ED62CF11}"/>
              </a:ext>
            </a:extLst>
          </p:cNvPr>
          <p:cNvSpPr txBox="1"/>
          <p:nvPr/>
        </p:nvSpPr>
        <p:spPr>
          <a:xfrm>
            <a:off x="499138" y="968208"/>
            <a:ext cx="111937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/>
              <a:t>Metric Validation: Correlation with </a:t>
            </a:r>
            <a:r>
              <a:rPr lang="en-US" sz="2800" dirty="0" err="1"/>
              <a:t>bert</a:t>
            </a:r>
            <a:r>
              <a:rPr lang="en-US" sz="2800" dirty="0"/>
              <a:t>-base-uncased.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The baseline model demonstrates strong alignment (</a:t>
            </a:r>
            <a:r>
              <a:rPr lang="el-GR" sz="2800" dirty="0"/>
              <a:t>ρ </a:t>
            </a:r>
            <a:r>
              <a:rPr lang="en-IN" sz="2800" dirty="0"/>
              <a:t>&gt; </a:t>
            </a:r>
            <a:r>
              <a:rPr lang="en-US" sz="2800" dirty="0"/>
              <a:t>0.70) with three critical human dimensions, validating its use as an automated proxy.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732EBEC-2D3C-802C-6D7A-1CD321260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96333"/>
              </p:ext>
            </p:extLst>
          </p:nvPr>
        </p:nvGraphicFramePr>
        <p:xfrm>
          <a:off x="1896380" y="3359952"/>
          <a:ext cx="8128000" cy="2996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06306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550420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825100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66701130"/>
                    </a:ext>
                  </a:extLst>
                </a:gridCol>
              </a:tblGrid>
              <a:tr h="3751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Human Dimension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Abbr.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l-G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ρ </a:t>
                      </a:r>
                      <a:r>
                        <a:rPr lang="en-IN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Value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Interpretation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17471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Appropriateness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0.80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Strongest: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Highly effective at measuring textual suitability and fit.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083995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Faithfulness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0.78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Strong: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Reliable proxy for factual correctness and source adherence.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658993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Usefulness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0.71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Strong: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Effective measure of informational value.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80861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Relevance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0.34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Weak: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Struggles with broader, contextual relevance.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069256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Consistency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0.21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Weakest:</a:t>
                      </a: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Poorly suited for measuring internal logic.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902481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415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6C7E5-6388-D1FB-C680-0AF210E3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FA121-A374-393E-EDB3-3346B3916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Key Result: </a:t>
            </a:r>
            <a:r>
              <a:rPr lang="en-US" sz="3600" dirty="0" err="1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RoBERTa</a:t>
            </a:r>
            <a:r>
              <a:rPr lang="en-US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-Large Correlation (</a:t>
            </a:r>
            <a:r>
              <a:rPr lang="el-GR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ρ</a:t>
            </a:r>
            <a:r>
              <a:rPr lang="en-IN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)</a:t>
            </a:r>
            <a:endParaRPr lang="en-US" sz="3600" dirty="0">
              <a:solidFill>
                <a:srgbClr val="059033"/>
              </a:solidFill>
              <a:latin typeface="Times New Roman" charset="0"/>
              <a:ea typeface="ＭＳ Ｐゴシック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5D00C6-8742-7EE4-BFC8-85FC089BC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C2E751-B5E1-15ED-7ACE-6C9751123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E8AD638-4C53-588C-4B6F-A794D1EC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11/29/2025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09B4A-57EB-EC43-B3DE-82C684FB4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FCC9A-114C-E012-80A3-8AAE14CFEF34}"/>
              </a:ext>
            </a:extLst>
          </p:cNvPr>
          <p:cNvSpPr txBox="1"/>
          <p:nvPr/>
        </p:nvSpPr>
        <p:spPr>
          <a:xfrm>
            <a:off x="499138" y="968208"/>
            <a:ext cx="111937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/>
              <a:t>Metric Validation: Correlation with </a:t>
            </a:r>
            <a:r>
              <a:rPr lang="en-US" sz="2800" dirty="0" err="1"/>
              <a:t>roberta</a:t>
            </a:r>
            <a:r>
              <a:rPr lang="en-US" sz="2800" dirty="0"/>
              <a:t>-large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We tested the more complex </a:t>
            </a:r>
            <a:r>
              <a:rPr lang="en-US" sz="2800" dirty="0" err="1"/>
              <a:t>roberta</a:t>
            </a:r>
            <a:r>
              <a:rPr lang="en-US" sz="2800" dirty="0"/>
              <a:t>-large model, expecting higher correlations, but found its performance was generally lower than the baseline.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A770733-B01A-70FF-1F24-3E908DAB2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625125"/>
              </p:ext>
            </p:extLst>
          </p:nvPr>
        </p:nvGraphicFramePr>
        <p:xfrm>
          <a:off x="1896380" y="3359952"/>
          <a:ext cx="8128000" cy="2976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06306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550420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825100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66701130"/>
                    </a:ext>
                  </a:extLst>
                </a:gridCol>
              </a:tblGrid>
              <a:tr h="3751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Human Dimension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Abbr.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l-GR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ρ </a:t>
                      </a: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Value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Interpretation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17471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Appropriateness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0.77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Slightly lower than BERT-base.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083995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Faithfulness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0.75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Slightly lower than BERT-base.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658993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Usefulness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0.69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Falls just below the $0.70$ threshold for strong reliability.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80861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Relevance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0.32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Marginally lower.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069256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Consistency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0.20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Marginally lower.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902481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8651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Model Comparison &amp; Final Selection</a:t>
            </a:r>
            <a:endParaRPr lang="en-US" sz="3600" dirty="0">
              <a:solidFill>
                <a:srgbClr val="059033"/>
              </a:solidFill>
              <a:latin typeface="Times New Roman" charset="0"/>
              <a:ea typeface="ＭＳ Ｐゴシック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11/29/2025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B8793-FE06-244A-997A-D6D1ED62CF11}"/>
              </a:ext>
            </a:extLst>
          </p:cNvPr>
          <p:cNvSpPr txBox="1"/>
          <p:nvPr/>
        </p:nvSpPr>
        <p:spPr>
          <a:xfrm>
            <a:off x="499138" y="762478"/>
            <a:ext cx="111937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BERT-Base vs. </a:t>
            </a:r>
            <a:r>
              <a:rPr lang="en-IN" sz="2800" dirty="0" err="1"/>
              <a:t>RoBERTa</a:t>
            </a:r>
            <a:r>
              <a:rPr lang="en-IN" sz="2800" dirty="0"/>
              <a:t>-Large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4ABBF5-39AA-EC2F-6A67-EEA2FCD4594E}"/>
              </a:ext>
            </a:extLst>
          </p:cNvPr>
          <p:cNvSpPr txBox="1"/>
          <p:nvPr/>
        </p:nvSpPr>
        <p:spPr>
          <a:xfrm>
            <a:off x="3375894" y="6413698"/>
            <a:ext cx="6119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Figure: Existing machine learning models organized by timeline (Li at al., 2020).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BBB3789-4000-C93D-357D-A24463FA8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321095"/>
              </p:ext>
            </p:extLst>
          </p:nvPr>
        </p:nvGraphicFramePr>
        <p:xfrm>
          <a:off x="1168400" y="1790191"/>
          <a:ext cx="9265764" cy="3003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41">
                  <a:extLst>
                    <a:ext uri="{9D8B030D-6E8A-4147-A177-3AD203B41FA5}">
                      <a16:colId xmlns:a16="http://schemas.microsoft.com/office/drawing/2014/main" val="3679046236"/>
                    </a:ext>
                  </a:extLst>
                </a:gridCol>
                <a:gridCol w="2316441">
                  <a:extLst>
                    <a:ext uri="{9D8B030D-6E8A-4147-A177-3AD203B41FA5}">
                      <a16:colId xmlns:a16="http://schemas.microsoft.com/office/drawing/2014/main" val="2122873336"/>
                    </a:ext>
                  </a:extLst>
                </a:gridCol>
                <a:gridCol w="2316441">
                  <a:extLst>
                    <a:ext uri="{9D8B030D-6E8A-4147-A177-3AD203B41FA5}">
                      <a16:colId xmlns:a16="http://schemas.microsoft.com/office/drawing/2014/main" val="2025409712"/>
                    </a:ext>
                  </a:extLst>
                </a:gridCol>
                <a:gridCol w="2316441">
                  <a:extLst>
                    <a:ext uri="{9D8B030D-6E8A-4147-A177-3AD203B41FA5}">
                      <a16:colId xmlns:a16="http://schemas.microsoft.com/office/drawing/2014/main" val="849999968"/>
                    </a:ext>
                  </a:extLst>
                </a:gridCol>
              </a:tblGrid>
              <a:tr h="7583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Dimension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bert-base-uncased (</a:t>
                      </a:r>
                      <a:r>
                        <a:rPr lang="el-GR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ρ)</a:t>
                      </a:r>
                      <a:endParaRPr lang="el-G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roberta-large (</a:t>
                      </a:r>
                      <a:r>
                        <a:rPr lang="el-GR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ρ)</a:t>
                      </a:r>
                      <a:endParaRPr lang="el-G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Result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905861486"/>
                  </a:ext>
                </a:extLst>
              </a:tr>
              <a:tr h="44908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Appropriateness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0.80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0.77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BERT-Base Wins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60899186"/>
                  </a:ext>
                </a:extLst>
              </a:tr>
              <a:tr h="44908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Faithfulness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0.78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0.75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BERT-Base Wins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280305607"/>
                  </a:ext>
                </a:extLst>
              </a:tr>
              <a:tr h="44908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Usefulness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0.71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0.69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BERT-Base Wins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1687010"/>
                  </a:ext>
                </a:extLst>
              </a:tr>
              <a:tr h="44908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Relevance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0.34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0.32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Draw (Both Weak)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71308637"/>
                  </a:ext>
                </a:extLst>
              </a:tr>
              <a:tr h="44908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Consistency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0.21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0.20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Draw (Both Weak)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81748694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E621C40-2D20-A66D-ACB5-00A7C573BBDF}"/>
              </a:ext>
            </a:extLst>
          </p:cNvPr>
          <p:cNvSpPr txBox="1"/>
          <p:nvPr/>
        </p:nvSpPr>
        <p:spPr>
          <a:xfrm>
            <a:off x="584199" y="4913036"/>
            <a:ext cx="111937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Final Selection: </a:t>
            </a:r>
            <a:r>
              <a:rPr lang="en-US" sz="1600" b="1" dirty="0" err="1"/>
              <a:t>bert</a:t>
            </a:r>
            <a:r>
              <a:rPr lang="en-US" sz="1600" b="1" dirty="0"/>
              <a:t>-base-uncased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Strongest Proxy: </a:t>
            </a:r>
            <a:r>
              <a:rPr lang="en-US" sz="1600" dirty="0"/>
              <a:t>Consistently showed higher correlation across all strongly-validated dimensions (F, A, U).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Efficiency: </a:t>
            </a:r>
            <a:r>
              <a:rPr lang="en-US" sz="1600" dirty="0"/>
              <a:t>It is a smaller model, resulting in faster computation and lower resource consumption, making it ideal for a scalable automated framework.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Note: </a:t>
            </a:r>
            <a:r>
              <a:rPr lang="en-US" sz="1600" dirty="0"/>
              <a:t>For choosing the algorithm, we will use the base BERT . But in project, we have used both</a:t>
            </a:r>
          </a:p>
        </p:txBody>
      </p:sp>
    </p:spTree>
    <p:extLst>
      <p:ext uri="{BB962C8B-B14F-4D97-AF65-F5344CB8AC3E}">
        <p14:creationId xmlns:p14="http://schemas.microsoft.com/office/powerpoint/2010/main" val="3658633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F6A7-4A84-8642-3B8E-08031100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Heatmaps for Correlation(Both Models)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F49CA-B796-50F5-2AB8-323A237B2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BC79F0-06B9-609B-BB41-ED1A1B985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8" y="1467465"/>
            <a:ext cx="5989332" cy="4828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671803-BA24-EF64-4884-81A2D1A9D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173" y="1467465"/>
            <a:ext cx="5715011" cy="482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65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Algorithm Performance Ranking</a:t>
            </a:r>
            <a:endParaRPr lang="en-US" sz="3600" dirty="0">
              <a:solidFill>
                <a:srgbClr val="059033"/>
              </a:solidFill>
              <a:latin typeface="Times New Roman" charset="0"/>
              <a:ea typeface="ＭＳ Ｐゴシック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380" y="223934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11/29/2025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E090FE-F51D-71E9-3207-62175AAD92D1}"/>
              </a:ext>
            </a:extLst>
          </p:cNvPr>
          <p:cNvSpPr txBox="1">
            <a:spLocks/>
          </p:cNvSpPr>
          <p:nvPr/>
        </p:nvSpPr>
        <p:spPr>
          <a:xfrm>
            <a:off x="584199" y="1618846"/>
            <a:ext cx="11055525" cy="1652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+mn-lt"/>
                <a:ea typeface="+mn-ea"/>
                <a:cs typeface="+mn-cs"/>
              </a:rPr>
              <a:t>Average Performance Scores by Generation Algorithm</a:t>
            </a:r>
          </a:p>
          <a:p>
            <a:r>
              <a:rPr lang="en-US" sz="2000" dirty="0"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2000" dirty="0">
                <a:latin typeface="+mn-lt"/>
                <a:ea typeface="+mn-ea"/>
                <a:cs typeface="+mn-cs"/>
              </a:rPr>
              <a:t>We aggregated the average human scores and the average </a:t>
            </a:r>
            <a:r>
              <a:rPr lang="en-US" sz="2000" dirty="0" err="1">
                <a:latin typeface="+mn-lt"/>
                <a:ea typeface="+mn-ea"/>
                <a:cs typeface="+mn-cs"/>
              </a:rPr>
              <a:t>BERTScore</a:t>
            </a:r>
            <a:r>
              <a:rPr lang="en-US" sz="2000" dirty="0">
                <a:latin typeface="+mn-lt"/>
                <a:ea typeface="+mn-ea"/>
                <a:cs typeface="+mn-cs"/>
              </a:rPr>
              <a:t> F1 (using the validated </a:t>
            </a:r>
            <a:r>
              <a:rPr lang="en-US" sz="2000" dirty="0" err="1">
                <a:latin typeface="+mn-lt"/>
                <a:ea typeface="+mn-ea"/>
                <a:cs typeface="+mn-cs"/>
              </a:rPr>
              <a:t>bert</a:t>
            </a:r>
            <a:r>
              <a:rPr lang="en-US" sz="2000" dirty="0">
                <a:latin typeface="+mn-lt"/>
                <a:ea typeface="+mn-ea"/>
                <a:cs typeface="+mn-cs"/>
              </a:rPr>
              <a:t>-base-uncased metric) to rank the generation algorithms.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751C68-94A4-48A8-2D4C-924D97194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287408"/>
              </p:ext>
            </p:extLst>
          </p:nvPr>
        </p:nvGraphicFramePr>
        <p:xfrm>
          <a:off x="838200" y="3271100"/>
          <a:ext cx="9186180" cy="2780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236">
                  <a:extLst>
                    <a:ext uri="{9D8B030D-6E8A-4147-A177-3AD203B41FA5}">
                      <a16:colId xmlns:a16="http://schemas.microsoft.com/office/drawing/2014/main" val="285635830"/>
                    </a:ext>
                  </a:extLst>
                </a:gridCol>
                <a:gridCol w="1837236">
                  <a:extLst>
                    <a:ext uri="{9D8B030D-6E8A-4147-A177-3AD203B41FA5}">
                      <a16:colId xmlns:a16="http://schemas.microsoft.com/office/drawing/2014/main" val="1992071641"/>
                    </a:ext>
                  </a:extLst>
                </a:gridCol>
                <a:gridCol w="1837236">
                  <a:extLst>
                    <a:ext uri="{9D8B030D-6E8A-4147-A177-3AD203B41FA5}">
                      <a16:colId xmlns:a16="http://schemas.microsoft.com/office/drawing/2014/main" val="4180592823"/>
                    </a:ext>
                  </a:extLst>
                </a:gridCol>
                <a:gridCol w="1837236">
                  <a:extLst>
                    <a:ext uri="{9D8B030D-6E8A-4147-A177-3AD203B41FA5}">
                      <a16:colId xmlns:a16="http://schemas.microsoft.com/office/drawing/2014/main" val="1252180885"/>
                    </a:ext>
                  </a:extLst>
                </a:gridCol>
                <a:gridCol w="1837236">
                  <a:extLst>
                    <a:ext uri="{9D8B030D-6E8A-4147-A177-3AD203B41FA5}">
                      <a16:colId xmlns:a16="http://schemas.microsoft.com/office/drawing/2014/main" val="1423953425"/>
                    </a:ext>
                  </a:extLst>
                </a:gridCol>
              </a:tblGrid>
              <a:tr h="10386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Algorithm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Avg. BERTScore F1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Avg. Faithfulness (F)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Avg. Appropriateness (A)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Avg. Usefulness (U)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404299909"/>
                  </a:ext>
                </a:extLst>
              </a:tr>
              <a:tr h="4355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human (Baseline)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0.151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3.72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3.69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3.57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701611855"/>
                  </a:ext>
                </a:extLst>
              </a:tr>
              <a:tr h="4355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naacl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0.137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3.40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3.39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3.30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126191357"/>
                  </a:ext>
                </a:extLst>
              </a:tr>
              <a:tr h="4355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poolenriched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0.132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3.48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3.46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3.37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219642299"/>
                  </a:ext>
                </a:extLst>
              </a:tr>
              <a:tr h="4355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onlypaper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Lowest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Lowest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Lowest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Lowest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519837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630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Algorithm</a:t>
            </a:r>
            <a:r>
              <a:rPr lang="en-US" sz="4000" b="1" dirty="0"/>
              <a:t> </a:t>
            </a:r>
            <a:r>
              <a:rPr lang="en-US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Performance: Bar Chart Results</a:t>
            </a:r>
            <a:br>
              <a:rPr lang="en-US" sz="4000" b="1" dirty="0"/>
            </a:br>
            <a:endParaRPr lang="en-US" sz="4000" dirty="0">
              <a:solidFill>
                <a:srgbClr val="059033"/>
              </a:solidFill>
              <a:latin typeface="Times New Roman" charset="0"/>
              <a:ea typeface="ＭＳ Ｐゴシック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2205" y="136525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11/29/2025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1EA7F-66D5-117C-1962-E84ACD93EB9D}"/>
              </a:ext>
            </a:extLst>
          </p:cNvPr>
          <p:cNvSpPr txBox="1"/>
          <p:nvPr/>
        </p:nvSpPr>
        <p:spPr>
          <a:xfrm>
            <a:off x="499137" y="1103128"/>
            <a:ext cx="111937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Comparing Algorithm Quality (F, A, U)</a:t>
            </a:r>
          </a:p>
          <a:p>
            <a:r>
              <a:rPr lang="en-US" dirty="0"/>
              <a:t>The decision framework uses both automated and human scores. While </a:t>
            </a:r>
            <a:r>
              <a:rPr lang="en-US" b="1" dirty="0" err="1"/>
              <a:t>naacl</a:t>
            </a:r>
            <a:r>
              <a:rPr lang="en-US" dirty="0"/>
              <a:t> achieved a higher automated </a:t>
            </a:r>
            <a:r>
              <a:rPr lang="en-US" dirty="0" err="1"/>
              <a:t>BERTScore</a:t>
            </a:r>
            <a:r>
              <a:rPr lang="en-US" dirty="0"/>
              <a:t> F1, the human scores show a different picture.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Visualization:</a:t>
            </a:r>
            <a:endParaRPr lang="en-US" dirty="0"/>
          </a:p>
          <a:p>
            <a:pPr marL="1371600" lvl="2" indent="-457200">
              <a:buFont typeface="Wingdings" pitchFamily="2" charset="2"/>
              <a:buChar char="ü"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7CB7A6-6A0D-C77C-C5E1-FED73D0B6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6553" y="2303456"/>
            <a:ext cx="5921253" cy="35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42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3E2D6-5110-3D23-A9F8-A1C6B9D53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C27BF-75F9-6E21-4BF2-6C8FBB432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Algorithm</a:t>
            </a:r>
            <a:r>
              <a:rPr lang="en-US" sz="4000" b="1" dirty="0"/>
              <a:t> </a:t>
            </a:r>
            <a:r>
              <a:rPr lang="en-US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Performance: Bar Chart Results</a:t>
            </a:r>
            <a:br>
              <a:rPr lang="en-US" sz="4000" b="1" dirty="0"/>
            </a:br>
            <a:endParaRPr lang="en-US" sz="4000" dirty="0">
              <a:solidFill>
                <a:srgbClr val="059033"/>
              </a:solidFill>
              <a:latin typeface="Times New Roman" charset="0"/>
              <a:ea typeface="ＭＳ Ｐゴシック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A83631-0271-3DEC-C026-1C6094222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B5650B-F28B-948E-48DF-6C34FC72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380" y="136525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2822B46-CA9E-9AAE-ACCE-EA459541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11/29/2025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DC9C9F-A782-C99B-6EC0-CA6DCC5A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22549-9E9E-7755-B384-E92416A9BEC3}"/>
              </a:ext>
            </a:extLst>
          </p:cNvPr>
          <p:cNvSpPr txBox="1"/>
          <p:nvPr/>
        </p:nvSpPr>
        <p:spPr>
          <a:xfrm>
            <a:off x="499137" y="1103128"/>
            <a:ext cx="111937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Key Finding: </a:t>
            </a:r>
            <a:r>
              <a:rPr lang="en-US" sz="1400" dirty="0"/>
              <a:t>The </a:t>
            </a:r>
            <a:r>
              <a:rPr lang="en-US" sz="1400" b="1" dirty="0" err="1"/>
              <a:t>poolenriched</a:t>
            </a:r>
            <a:r>
              <a:rPr lang="en-US" sz="1400" dirty="0"/>
              <a:t> algorithm consistently aligned most closely with human judgments across the critical metrics of Faithfulness, Appropriateness, and Usefulness, achieving the second-highest human scores.</a:t>
            </a:r>
          </a:p>
          <a:p>
            <a:endParaRPr lang="en-US" sz="1400" dirty="0"/>
          </a:p>
          <a:p>
            <a:r>
              <a:rPr lang="en-US" sz="1400" b="1" dirty="0"/>
              <a:t>Discrepancy: </a:t>
            </a:r>
            <a:r>
              <a:rPr lang="en-US" sz="1400" dirty="0"/>
              <a:t>The </a:t>
            </a:r>
            <a:r>
              <a:rPr lang="en-US" sz="1400" dirty="0" err="1"/>
              <a:t>naacl</a:t>
            </a:r>
            <a:r>
              <a:rPr lang="en-US" sz="1400" dirty="0"/>
              <a:t> algorithm achieved a higher average </a:t>
            </a:r>
            <a:r>
              <a:rPr lang="en-US" sz="1400" dirty="0" err="1"/>
              <a:t>BERTScore</a:t>
            </a:r>
            <a:r>
              <a:rPr lang="en-US" sz="1400" dirty="0"/>
              <a:t> F1 (0.137 vs 0.132), but its lower human scores (F, A, U) suggest a mild discrepancy between the automated metric and perceived quality for that specific algorithm.</a:t>
            </a:r>
          </a:p>
          <a:p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535AD8-6CA4-D354-CB4B-70FA4DE61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31" y="2570608"/>
            <a:ext cx="3484652" cy="39415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767BCC-5413-2237-6C8D-BDFFEBB3BB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516" y="2563538"/>
            <a:ext cx="3684915" cy="39415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977894-6249-AB45-47E0-7979EDF8F9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431" y="3007344"/>
            <a:ext cx="4241938" cy="282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43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8559-E499-74A2-FA04-6B9AE2949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221E8-DE3F-97FD-49FB-6C3B0AB9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GitHub Link and Author Contributions (Mandatory)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50408A-80BD-EB77-5ABD-AAF511B67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676762-8873-11BB-2E59-455B95851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380" y="75008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6B38682-4691-F0BC-3070-D56FB969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11/29/2025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AA94C8-F26A-E94E-22A3-05E7F611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B1D4F-0F12-68F0-E508-05180D936189}"/>
              </a:ext>
            </a:extLst>
          </p:cNvPr>
          <p:cNvSpPr txBox="1"/>
          <p:nvPr/>
        </p:nvSpPr>
        <p:spPr>
          <a:xfrm>
            <a:off x="499138" y="1270284"/>
            <a:ext cx="111937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Final Selection and Framework Takeaways Validated Metric: </a:t>
            </a:r>
            <a:r>
              <a:rPr lang="en-US" dirty="0" err="1"/>
              <a:t>BERTScore</a:t>
            </a:r>
            <a:r>
              <a:rPr lang="en-US" dirty="0"/>
              <a:t> F1 using the </a:t>
            </a:r>
            <a:r>
              <a:rPr lang="en-US" dirty="0" err="1"/>
              <a:t>bert</a:t>
            </a:r>
            <a:r>
              <a:rPr lang="en-US" dirty="0"/>
              <a:t>-base-uncased backbone. Chosen Algorithm: The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pool-enriched generation method</a:t>
            </a:r>
            <a:r>
              <a:rPr lang="en-US" dirty="0"/>
              <a:t>, due to its superior alignment with human judgment (F, A, U) despite a marginally lower automated score than </a:t>
            </a:r>
            <a:r>
              <a:rPr lang="en-US" dirty="0" err="1"/>
              <a:t>naacl</a:t>
            </a:r>
            <a:r>
              <a:rPr lang="en-US" dirty="0"/>
              <a:t>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Framework Success: </a:t>
            </a:r>
            <a:r>
              <a:rPr lang="en-US" dirty="0"/>
              <a:t>We successfully validated a metric and used it to objectively select the best-performing Model Card generation algorithm, confirming the necessity of integrating diverse data sources (pool-enriched logic) for robust documentation</a:t>
            </a:r>
            <a:r>
              <a:rPr lang="en-US" b="1" dirty="0"/>
              <a:t>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Impact</a:t>
            </a:r>
            <a:r>
              <a:rPr lang="en-US" dirty="0"/>
              <a:t>: This framework allows us to minimize human QA effort, accelerate development cycles, and ensure responsible AI documentation quality at scale.</a:t>
            </a:r>
            <a:endParaRPr lang="en-US" sz="3600" dirty="0">
              <a:solidFill>
                <a:srgbClr val="059033"/>
              </a:solidFill>
              <a:latin typeface="Times New Roman" charset="0"/>
              <a:ea typeface="ＭＳ Ｐゴシック" charset="0"/>
              <a:cs typeface="+mj-cs"/>
            </a:endParaRPr>
          </a:p>
          <a:p>
            <a:endParaRPr lang="en-US" dirty="0"/>
          </a:p>
          <a:p>
            <a:endParaRPr lang="en-US" dirty="0"/>
          </a:p>
          <a:p>
            <a:pPr marL="1371600" lvl="2" indent="-457200">
              <a:buFont typeface="Wingdings" pitchFamily="2" charset="2"/>
              <a:buChar char="ü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5844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7EAA1-996D-CE28-D433-FDA7D6F55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2B54E-784F-F21E-AC37-1D6F601D3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Final Algorithm Selection &amp; Conclusion</a:t>
            </a:r>
            <a:endParaRPr lang="en-US" sz="3600" dirty="0">
              <a:solidFill>
                <a:srgbClr val="059033"/>
              </a:solidFill>
              <a:latin typeface="Times New Roman" charset="0"/>
              <a:ea typeface="ＭＳ Ｐゴシック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137AE1-0E50-921C-1B5C-8FBBB4D86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55581-FD1C-95F6-3B9E-788AB3455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380" y="75008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99A6DCF-6639-644F-751F-CA5B755E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11/29/2025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2F094-1CE9-4039-1CB5-3A2059DE3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2089E8-C6A5-F185-A943-550B282D13C6}"/>
              </a:ext>
            </a:extLst>
          </p:cNvPr>
          <p:cNvSpPr txBox="1"/>
          <p:nvPr/>
        </p:nvSpPr>
        <p:spPr>
          <a:xfrm>
            <a:off x="499137" y="1103128"/>
            <a:ext cx="1119372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Repository</a:t>
            </a:r>
          </a:p>
          <a:p>
            <a:r>
              <a:rPr lang="en-US" b="1" dirty="0"/>
              <a:t>GitHub Link: </a:t>
            </a:r>
            <a:r>
              <a:rPr lang="en-IN" dirty="0">
                <a:hlinkClick r:id="rId4"/>
              </a:rPr>
              <a:t>Prakhar_INFO5731_Fall2025/Group_1_Project at main · prakharrustagi42/Prakhar_INFO5731_Fall2025</a:t>
            </a:r>
            <a:endParaRPr lang="en-US" dirty="0"/>
          </a:p>
          <a:p>
            <a:endParaRPr lang="en-US" dirty="0"/>
          </a:p>
          <a:p>
            <a:pPr marL="1371600" lvl="2" indent="-457200">
              <a:buFont typeface="Wingdings" pitchFamily="2" charset="2"/>
              <a:buChar char="ü"/>
            </a:pPr>
            <a:endParaRPr lang="en-US" sz="24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982F27D-852A-5EDE-B6EA-CA00A2470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9587"/>
              </p:ext>
            </p:extLst>
          </p:nvPr>
        </p:nvGraphicFramePr>
        <p:xfrm>
          <a:off x="976196" y="2204756"/>
          <a:ext cx="9242459" cy="3818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7186">
                  <a:extLst>
                    <a:ext uri="{9D8B030D-6E8A-4147-A177-3AD203B41FA5}">
                      <a16:colId xmlns:a16="http://schemas.microsoft.com/office/drawing/2014/main" val="3721915912"/>
                    </a:ext>
                  </a:extLst>
                </a:gridCol>
                <a:gridCol w="5625273">
                  <a:extLst>
                    <a:ext uri="{9D8B030D-6E8A-4147-A177-3AD203B41FA5}">
                      <a16:colId xmlns:a16="http://schemas.microsoft.com/office/drawing/2014/main" val="3090674625"/>
                    </a:ext>
                  </a:extLst>
                </a:gridCol>
              </a:tblGrid>
              <a:tr h="4460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Team Member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Responsibilities &amp; Phases Led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61469523"/>
                  </a:ext>
                </a:extLst>
              </a:tr>
              <a:tr h="8065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Prakhar Rustagi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Project Lead/Technical Core: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Proposal Finalization, Integration of Partner's Data, BERTScore Calculation (Base vs. Large), Statistical Analysis (Correlation/Wilcoxon), Results &amp; Discussion Write-up, Final LaTeX Review.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85201736"/>
                  </a:ext>
                </a:extLst>
              </a:tr>
              <a:tr h="5865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Pallavi Mannam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Annotation &amp; Analysis: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Literature Review Write-up, Manual Annotation, Annotation Review/Cleaning, Algorithm Ranking &amp; Visualization.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815780273"/>
                  </a:ext>
                </a:extLst>
              </a:tr>
              <a:tr h="5865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Saloni P. Khot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Documentation &amp; Synthesis: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Literature Review Write-up, Manual Annotation, Conclusion and Abstract Finalization.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452591821"/>
                  </a:ext>
                </a:extLst>
              </a:tr>
              <a:tr h="8065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Varun K. Chennuri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Annotation &amp; Documentation: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Manual Annotation, Annotation Review/Cleaning, Methodology Write-up, Conclusion and Abstract Finalization.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692100034"/>
                  </a:ext>
                </a:extLst>
              </a:tr>
              <a:tr h="5865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Samraggi</a:t>
                      </a: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Thapa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Analysis &amp; Formatting: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Manual Annotation, Algorithm Ranking &amp; Visualization, Final LaTeX Formatting &amp; Integration.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43587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211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385" y="2684033"/>
            <a:ext cx="878486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Thank you!</a:t>
            </a:r>
            <a:b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</a:br>
            <a:b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</a:br>
            <a:r>
              <a:rPr lang="en-US" altLang="zh-CN" sz="400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Question?</a:t>
            </a:r>
            <a:endParaRPr lang="en-US" sz="4000" dirty="0">
              <a:solidFill>
                <a:srgbClr val="059033"/>
              </a:solidFill>
              <a:latin typeface="Times New Roman" charset="0"/>
              <a:ea typeface="ＭＳ Ｐゴシック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02E08FC-3140-42D2-9452-569AD46A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2D17-AEFB-4E60-BDEA-C1A69721129E}" type="datetime1">
              <a:rPr lang="en-US" smtClean="0"/>
              <a:t>11/29/2025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131F0-7678-4609-A4FB-1B9426011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2888</TotalTime>
  <Words>1511</Words>
  <Application>Microsoft Office PowerPoint</Application>
  <PresentationFormat>Widescreen</PresentationFormat>
  <Paragraphs>263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MS PGothic</vt:lpstr>
      <vt:lpstr>SimSun</vt:lpstr>
      <vt:lpstr>Arial</vt:lpstr>
      <vt:lpstr>Calibri</vt:lpstr>
      <vt:lpstr>Calibri Light</vt:lpstr>
      <vt:lpstr>Google Sans Text</vt:lpstr>
      <vt:lpstr>Times New Roman</vt:lpstr>
      <vt:lpstr>Wingdings</vt:lpstr>
      <vt:lpstr>Office Theme</vt:lpstr>
      <vt:lpstr> </vt:lpstr>
      <vt:lpstr>PowerPoint Presentation</vt:lpstr>
      <vt:lpstr>Introduction &amp; Motivation The Problem: Assessing Model Card Quality </vt:lpstr>
      <vt:lpstr>Project Goals and Evaluation Metrics</vt:lpstr>
      <vt:lpstr>Human Annotation: Rubric and Granularity</vt:lpstr>
      <vt:lpstr>Annotation Granularity: Analysis by 8 Key Sections</vt:lpstr>
      <vt:lpstr>Methodology &amp; Flowchart</vt:lpstr>
      <vt:lpstr>Key Result: BERT-Base Correlation (ρ) </vt:lpstr>
      <vt:lpstr>Key Result: RoBERTa-Large Correlation (ρ)</vt:lpstr>
      <vt:lpstr>Model Comparison &amp; Final Selection</vt:lpstr>
      <vt:lpstr>Heatmaps for Correlation(Both Models)</vt:lpstr>
      <vt:lpstr>Algorithm Performance Ranking</vt:lpstr>
      <vt:lpstr>Algorithm Performance: Bar Chart Results </vt:lpstr>
      <vt:lpstr>Algorithm Performance: Bar Chart Results </vt:lpstr>
      <vt:lpstr>GitHub Link and Author Contributions (Mandatory)</vt:lpstr>
      <vt:lpstr>Final Algorithm Selection &amp; Conclusion</vt:lpstr>
      <vt:lpstr>Thank you!  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Chen, Haihua</dc:creator>
  <cp:lastModifiedBy>Rustagi, Prakhar</cp:lastModifiedBy>
  <cp:revision>33</cp:revision>
  <dcterms:created xsi:type="dcterms:W3CDTF">2021-12-15T23:14:35Z</dcterms:created>
  <dcterms:modified xsi:type="dcterms:W3CDTF">2025-11-30T02:40:46Z</dcterms:modified>
</cp:coreProperties>
</file>